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58" r:id="rId2"/>
    <p:sldId id="267" r:id="rId3"/>
    <p:sldId id="352" r:id="rId4"/>
    <p:sldId id="366" r:id="rId5"/>
    <p:sldId id="367" r:id="rId6"/>
    <p:sldId id="356" r:id="rId7"/>
    <p:sldId id="365" r:id="rId8"/>
    <p:sldId id="364" r:id="rId9"/>
    <p:sldId id="368" r:id="rId10"/>
    <p:sldId id="3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nice Celis" initials="DC" lastIdx="1" clrIdx="0">
    <p:extLst>
      <p:ext uri="{19B8F6BF-5375-455C-9EA6-DF929625EA0E}">
        <p15:presenceInfo xmlns:p15="http://schemas.microsoft.com/office/powerpoint/2012/main" userId="47588ed7e0a7705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04040"/>
    <a:srgbClr val="181717"/>
    <a:srgbClr val="E6E6E6"/>
    <a:srgbClr val="B1060F"/>
    <a:srgbClr val="CC0000"/>
    <a:srgbClr val="E20000"/>
    <a:srgbClr val="FF0000"/>
    <a:srgbClr val="A0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546" autoAdjust="0"/>
    <p:restoredTop sz="93032" autoAdjust="0"/>
  </p:normalViewPr>
  <p:slideViewPr>
    <p:cSldViewPr snapToGrid="0">
      <p:cViewPr varScale="1">
        <p:scale>
          <a:sx n="106" d="100"/>
          <a:sy n="106" d="100"/>
        </p:scale>
        <p:origin x="990" y="11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04B59-8638-4D06-89C4-FD2271AF6ACF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1E8CE4-817D-4746-A608-0C15A197F116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922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769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F5C72-2B29-18DA-BA43-246737B6A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EEB4C2-DC3F-939E-789A-413F685C4F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480B82D-71DA-8EBA-37B0-B902BC836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599E98-973B-5EF1-5B43-0071A0983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7901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7A1C3F-9E74-CFC9-9D76-8AEC43832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8B4D4-A8FD-3B36-C371-1C0FB5836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8AF3CE-400D-3C17-6D96-08963C054A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E6809-F637-EC7F-2A07-10EDBC536C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811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2985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20448-BAE7-4AAE-0E4A-FAC1C424B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BE87A9-078B-406C-CA63-AA1A033A4D0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F69062-F72E-B4B3-4738-560013363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887E0F-14B8-2579-331C-618B58AB0D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78437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F5844-237D-8D2E-5396-6AC7C4EA07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80ED27-7FC6-DE79-B370-4F24B0B4A4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227E6B-4608-AC73-53A7-2D7697585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20AB01-7A43-041D-AF26-BFABFB7C7A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2973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F402E-AD80-5767-47A8-048311CC2E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89D077-1216-D6B5-6C6A-2C0CA4196E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D14BC89-9A1A-8AD3-602A-AE649B502CC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E4E2B2-9C5D-D1A8-6641-7BCE77CC29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9298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E1E8CE4-817D-4746-A608-0C15A197F11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335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4CD7F-190A-4332-AFE0-291EB47DD1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374335-F379-4840-958A-BFA49C55A08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0D831E-1763-4979-95CB-7587846EB0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92F86-FC23-4637-8F47-F9D12B223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6EC543-7DF6-47EE-9B73-A92BC37714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671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52217-36BA-481D-B456-9C5DF7360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10499D-C2AF-4AF5-8F3B-15F46C9E5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92F08-FFB1-4EF1-A4F0-16491E96E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8A8F3A-5A8A-4174-8A7B-E0AB07E89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4FDB73-B35B-46CD-8E23-163EA17BF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865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2F213-4902-4531-8DF2-7F21DC6E3E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246314-113B-4D89-AA07-0F8E92ED54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61EAE2-5C6E-449E-BFB3-9C541DC2A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8174C-2C41-419A-BD37-4E1D93A21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273674-754F-4773-A1AD-B8197BC7F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7298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60437-270B-4321-B5E5-96A255421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A590DD-C5B4-4F8A-B8C5-0F3D40BE4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05172A-6610-45EF-8DAA-8E3359A324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DD7C73-EE35-415E-92AC-756328F7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BF7E0-0184-481A-969C-D2D1EAD08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9243C3-6D70-4EB5-818A-AB29981A0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818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515BE-DB06-46B2-AFA3-43E767858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98D3E-3ED5-4257-8EA3-CFCE93C138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F68FD2-696A-449A-B8AA-48C42CA90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9F02D6-D289-4845-8DA8-EC575A62F1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0D4B39-1E5B-41A3-8DBF-49FC23F00E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0692507-5C5F-43CD-ADB3-1EC9A2D2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07A465-B290-440F-9DCF-F770F04A8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39504D-75FB-49FE-AACF-9A91C871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342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DC38A-0B11-4276-9577-56BF7178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2AC6B1-0CAC-4537-9926-960EF86F4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D4C0B6-52BF-4084-B9B3-9BAACADA1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6FE318-9931-4922-857D-F589BD576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901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64E2335-D944-497F-B55E-E4B82003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B5CC13-C0AC-4A22-A5C6-5C11170FFD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BFCCE5-2198-4D51-8670-90850EDD7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56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C712-C748-48A3-97A4-8346CEF8FA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794529-5BEF-4AAC-ABE7-5C1FA75C07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BB2ED1-C7D4-4746-9563-C9C1EABF89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57E5F1-2320-44B3-BFDC-41829F6E4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5AEEA9-35B3-46FF-9708-828AD8938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323832-738D-44ED-B85E-3FE4DCEAFB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206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44E593-8898-4C79-A362-A51AB91C9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3AEC8A-2755-4BCF-A60D-7AD273BA8D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FA5077-9D7B-4B76-8033-ACF89928D4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609979-1E34-4407-B512-929CC3FCC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4CDA0D-57DD-4BAB-A157-7B0A766AD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E7CE73-88BB-4F41-8E5C-1F6ADA4C4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743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8EC72-C1D9-47FE-AE98-BB4F9E8AD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1096A0D-0E4A-4B87-801B-CFB94DF730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1130C2-4B3B-4E02-A1A2-9A78AD089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6AD38B-BE8A-408B-97EB-6D2156A95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89D8F7-FE07-49FD-B85F-5A2F4FE1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951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8A5B00-8DE5-4B2E-82C0-22328FA99C3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60BF72-3D66-4F17-895A-690CD4ED39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2AA75C-41E9-4117-AEF8-204C920C17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369BBC-1957-4D56-BD9F-F79A0AF035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4DBB4-4DC6-48BD-AF06-5785FF790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226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CEC8ED8-C748-479F-A960-84212EE3F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5F7E30-3743-4A22-AA93-011808520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57794D-9B3C-4AB0-8529-B6DD7FF0B6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86DAE1-A954-4A73-9A9D-A9F350F43F0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977540-9C64-41A9-A334-5320AD7004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8F36F8-7727-45C9-9788-F58A20D036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35929-88EE-4C0D-870C-192BA26F3B0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448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9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5.jpg"/><Relationship Id="rId7" Type="http://schemas.openxmlformats.org/officeDocument/2006/relationships/image" Target="../media/image19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g"/><Relationship Id="rId5" Type="http://schemas.openxmlformats.org/officeDocument/2006/relationships/image" Target="../media/image17.jpg"/><Relationship Id="rId4" Type="http://schemas.openxmlformats.org/officeDocument/2006/relationships/image" Target="../media/image1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81F7BA-F038-4980-9BDD-366BB60E53F7}"/>
              </a:ext>
            </a:extLst>
          </p:cNvPr>
          <p:cNvSpPr/>
          <p:nvPr/>
        </p:nvSpPr>
        <p:spPr>
          <a:xfrm>
            <a:off x="4333460" y="1249018"/>
            <a:ext cx="1003471" cy="4359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F428437-D0E8-4A5E-8F0D-779EDE699849}"/>
              </a:ext>
            </a:extLst>
          </p:cNvPr>
          <p:cNvSpPr/>
          <p:nvPr/>
        </p:nvSpPr>
        <p:spPr>
          <a:xfrm>
            <a:off x="6549120" y="1249016"/>
            <a:ext cx="1003471" cy="43599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D4C674BA-36C1-4ADC-8EA0-748BD1C41583}"/>
              </a:ext>
            </a:extLst>
          </p:cNvPr>
          <p:cNvSpPr/>
          <p:nvPr/>
        </p:nvSpPr>
        <p:spPr>
          <a:xfrm flipH="1">
            <a:off x="4333460" y="1249017"/>
            <a:ext cx="3219131" cy="4359966"/>
          </a:xfrm>
          <a:prstGeom prst="parallelogram">
            <a:avLst>
              <a:gd name="adj" fmla="val 65762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476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72981D57-E69D-472E-9AE4-329F0F7724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98" r="4598"/>
          <a:stretch/>
        </p:blipFill>
        <p:spPr bwMode="auto">
          <a:xfrm>
            <a:off x="-1" y="793996"/>
            <a:ext cx="12192001" cy="5370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Bottom Gradient">
            <a:extLst>
              <a:ext uri="{FF2B5EF4-FFF2-40B4-BE49-F238E27FC236}">
                <a16:creationId xmlns:a16="http://schemas.microsoft.com/office/drawing/2014/main" id="{5BCA3DDC-22D6-40F2-9E1A-843393A931B9}"/>
              </a:ext>
            </a:extLst>
          </p:cNvPr>
          <p:cNvSpPr/>
          <p:nvPr/>
        </p:nvSpPr>
        <p:spPr>
          <a:xfrm rot="5400000">
            <a:off x="3410674" y="-2616680"/>
            <a:ext cx="5370649" cy="12192006"/>
          </a:xfrm>
          <a:prstGeom prst="rect">
            <a:avLst/>
          </a:prstGeom>
          <a:gradFill flip="none" rotWithShape="1">
            <a:gsLst>
              <a:gs pos="24000">
                <a:schemeClr val="tx1">
                  <a:alpha val="93000"/>
                </a:schemeClr>
              </a:gs>
              <a:gs pos="100000">
                <a:schemeClr val="tx1">
                  <a:tint val="23500"/>
                  <a:satMod val="160000"/>
                  <a:alpha val="0"/>
                  <a:lumMod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04984D-6983-4B9E-8DBB-17D2FA381D96}"/>
              </a:ext>
            </a:extLst>
          </p:cNvPr>
          <p:cNvSpPr txBox="1"/>
          <p:nvPr/>
        </p:nvSpPr>
        <p:spPr>
          <a:xfrm>
            <a:off x="316222" y="1553587"/>
            <a:ext cx="7578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THE FINAL REPORT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542242E-4DB5-445C-BA07-E81691234833}"/>
              </a:ext>
            </a:extLst>
          </p:cNvPr>
          <p:cNvSpPr/>
          <p:nvPr/>
        </p:nvSpPr>
        <p:spPr>
          <a:xfrm>
            <a:off x="417124" y="4311028"/>
            <a:ext cx="1089482" cy="3874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 Neue Medium (Body)"/>
                <a:cs typeface="Arial" panose="020B0604020202020204" pitchFamily="34" charset="0"/>
              </a:rPr>
              <a:t>PLAY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E916BFD-4649-456D-8CA8-27EAFE356040}"/>
              </a:ext>
            </a:extLst>
          </p:cNvPr>
          <p:cNvSpPr/>
          <p:nvPr/>
        </p:nvSpPr>
        <p:spPr>
          <a:xfrm>
            <a:off x="1727597" y="4311028"/>
            <a:ext cx="1468026" cy="3874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 Neue Medium (Body)"/>
                <a:cs typeface="Arial" panose="020B0604020202020204" pitchFamily="34" charset="0"/>
              </a:rPr>
              <a:t>+ MY LIST</a:t>
            </a:r>
          </a:p>
        </p:txBody>
      </p:sp>
      <p:sp>
        <p:nvSpPr>
          <p:cNvPr id="30" name="Home     TV Shows     Movies     Recently Added     My List">
            <a:extLst>
              <a:ext uri="{FF2B5EF4-FFF2-40B4-BE49-F238E27FC236}">
                <a16:creationId xmlns:a16="http://schemas.microsoft.com/office/drawing/2014/main" id="{2AE15A0D-B8ED-4A9E-888D-2BEAC21EF48B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067A1752-3BCE-4722-AE0F-8A3EF7BD09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48" name="TextBox 47">
            <a:extLst>
              <a:ext uri="{FF2B5EF4-FFF2-40B4-BE49-F238E27FC236}">
                <a16:creationId xmlns:a16="http://schemas.microsoft.com/office/drawing/2014/main" id="{A6920CD3-D93F-460E-89A6-BCE43074A5BA}"/>
              </a:ext>
            </a:extLst>
          </p:cNvPr>
          <p:cNvSpPr txBox="1"/>
          <p:nvPr/>
        </p:nvSpPr>
        <p:spPr>
          <a:xfrm>
            <a:off x="372715" y="3247979"/>
            <a:ext cx="5072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i="0" dirty="0">
                <a:solidFill>
                  <a:schemeClr val="bg1"/>
                </a:solidFill>
                <a:effectLst/>
                <a:latin typeface="Open Sans" panose="020B0606030504020204" pitchFamily="34" charset="0"/>
              </a:rPr>
              <a:t>The final report is a series where Jacopo Beltrani (the main character) tells us about his school work experience.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follow his adventure in </a:t>
            </a:r>
            <a:r>
              <a:rPr lang="en-US"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 episodes; </a:t>
            </a:r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each one is focused on a different aspect of is journey.</a:t>
            </a:r>
          </a:p>
        </p:txBody>
      </p:sp>
      <p:sp>
        <p:nvSpPr>
          <p:cNvPr id="53" name="Line">
            <a:extLst>
              <a:ext uri="{FF2B5EF4-FFF2-40B4-BE49-F238E27FC236}">
                <a16:creationId xmlns:a16="http://schemas.microsoft.com/office/drawing/2014/main" id="{73653BEE-18D9-418F-80DA-CC563B0FD9F7}"/>
              </a:ext>
            </a:extLst>
          </p:cNvPr>
          <p:cNvSpPr/>
          <p:nvPr/>
        </p:nvSpPr>
        <p:spPr>
          <a:xfrm flipV="1">
            <a:off x="1112044" y="6660357"/>
            <a:ext cx="1231106" cy="0"/>
          </a:xfrm>
          <a:prstGeom prst="line">
            <a:avLst/>
          </a:prstGeom>
          <a:ln w="38100" cmpd="sng">
            <a:solidFill>
              <a:srgbClr val="FF0000"/>
            </a:solidFill>
            <a:miter lim="400000"/>
            <a:headEnd w="med" len="sm"/>
          </a:ln>
        </p:spPr>
        <p:txBody>
          <a:bodyPr lIns="71437" tIns="71437" rIns="71437" bIns="71437" anchor="ctr"/>
          <a:lstStyle/>
          <a:p>
            <a:pPr>
              <a:defRPr sz="3000" b="0"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54" name="2019">
            <a:extLst>
              <a:ext uri="{FF2B5EF4-FFF2-40B4-BE49-F238E27FC236}">
                <a16:creationId xmlns:a16="http://schemas.microsoft.com/office/drawing/2014/main" id="{EA014E6B-A858-4125-A05F-AC70CA0526D0}"/>
              </a:ext>
            </a:extLst>
          </p:cNvPr>
          <p:cNvSpPr txBox="1"/>
          <p:nvPr/>
        </p:nvSpPr>
        <p:spPr>
          <a:xfrm>
            <a:off x="412691" y="2791405"/>
            <a:ext cx="744220" cy="421268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Helvetica Neue Medium (Body)"/>
              </a:rPr>
              <a:t>20</a:t>
            </a:r>
            <a:r>
              <a:rPr lang="en-US" dirty="0">
                <a:solidFill>
                  <a:schemeClr val="bg1"/>
                </a:solidFill>
                <a:latin typeface="Helvetica Neue Medium (Body)"/>
              </a:rPr>
              <a:t>25</a:t>
            </a:r>
            <a:endParaRPr dirty="0">
              <a:solidFill>
                <a:schemeClr val="bg1"/>
              </a:solidFill>
              <a:latin typeface="Helvetica Neue Medium (Body)"/>
            </a:endParaRPr>
          </a:p>
        </p:txBody>
      </p:sp>
      <p:sp>
        <p:nvSpPr>
          <p:cNvPr id="55" name="TV-PG">
            <a:extLst>
              <a:ext uri="{FF2B5EF4-FFF2-40B4-BE49-F238E27FC236}">
                <a16:creationId xmlns:a16="http://schemas.microsoft.com/office/drawing/2014/main" id="{31B9D289-128B-4F6D-A0F5-B7CB8DFA2945}"/>
              </a:ext>
            </a:extLst>
          </p:cNvPr>
          <p:cNvSpPr/>
          <p:nvPr/>
        </p:nvSpPr>
        <p:spPr>
          <a:xfrm>
            <a:off x="1156911" y="2847245"/>
            <a:ext cx="974417" cy="294322"/>
          </a:xfrm>
          <a:prstGeom prst="rect">
            <a:avLst/>
          </a:prstGeom>
          <a:ln w="3175">
            <a:solidFill>
              <a:schemeClr val="bg1"/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 b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pPr algn="ctr"/>
            <a:r>
              <a:rPr sz="1800" dirty="0">
                <a:solidFill>
                  <a:schemeClr val="bg1"/>
                </a:solidFill>
                <a:latin typeface="Helvetica Neue Medium (Body)"/>
              </a:rPr>
              <a:t>TV-PG</a:t>
            </a:r>
          </a:p>
        </p:txBody>
      </p:sp>
      <p:sp>
        <p:nvSpPr>
          <p:cNvPr id="26" name="Search">
            <a:extLst>
              <a:ext uri="{FF2B5EF4-FFF2-40B4-BE49-F238E27FC236}">
                <a16:creationId xmlns:a16="http://schemas.microsoft.com/office/drawing/2014/main" id="{E27A2A61-DFF9-4A10-A061-3F66522ADFAE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Bell">
            <a:extLst>
              <a:ext uri="{FF2B5EF4-FFF2-40B4-BE49-F238E27FC236}">
                <a16:creationId xmlns:a16="http://schemas.microsoft.com/office/drawing/2014/main" id="{18A79261-8F71-4FBF-984B-0952E90C6D69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Triangle">
            <a:extLst>
              <a:ext uri="{FF2B5EF4-FFF2-40B4-BE49-F238E27FC236}">
                <a16:creationId xmlns:a16="http://schemas.microsoft.com/office/drawing/2014/main" id="{84EDE5BB-39EC-4567-A6BF-D2125EEA9790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1B6B0E-94AC-453F-835C-B932AF376C6E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Star: 5 Points 42">
            <a:extLst>
              <a:ext uri="{FF2B5EF4-FFF2-40B4-BE49-F238E27FC236}">
                <a16:creationId xmlns:a16="http://schemas.microsoft.com/office/drawing/2014/main" id="{1DA6401B-CD22-4098-BB22-88C176C4BDAD}"/>
              </a:ext>
            </a:extLst>
          </p:cNvPr>
          <p:cNvSpPr/>
          <p:nvPr/>
        </p:nvSpPr>
        <p:spPr>
          <a:xfrm>
            <a:off x="460012" y="2470551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tar: 5 Points 43">
            <a:extLst>
              <a:ext uri="{FF2B5EF4-FFF2-40B4-BE49-F238E27FC236}">
                <a16:creationId xmlns:a16="http://schemas.microsoft.com/office/drawing/2014/main" id="{E110575B-0AF6-4A8E-84E5-60DD15C584BE}"/>
              </a:ext>
            </a:extLst>
          </p:cNvPr>
          <p:cNvSpPr/>
          <p:nvPr/>
        </p:nvSpPr>
        <p:spPr>
          <a:xfrm>
            <a:off x="745670" y="2464728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Star: 5 Points 45">
            <a:extLst>
              <a:ext uri="{FF2B5EF4-FFF2-40B4-BE49-F238E27FC236}">
                <a16:creationId xmlns:a16="http://schemas.microsoft.com/office/drawing/2014/main" id="{591AA37C-0AA0-4E3F-A2F5-37415845B714}"/>
              </a:ext>
            </a:extLst>
          </p:cNvPr>
          <p:cNvSpPr/>
          <p:nvPr/>
        </p:nvSpPr>
        <p:spPr>
          <a:xfrm>
            <a:off x="1042130" y="2464728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Star: 5 Points 48">
            <a:extLst>
              <a:ext uri="{FF2B5EF4-FFF2-40B4-BE49-F238E27FC236}">
                <a16:creationId xmlns:a16="http://schemas.microsoft.com/office/drawing/2014/main" id="{64F6AD08-8824-469C-BF16-D5074AC0D0B0}"/>
              </a:ext>
            </a:extLst>
          </p:cNvPr>
          <p:cNvSpPr/>
          <p:nvPr/>
        </p:nvSpPr>
        <p:spPr>
          <a:xfrm>
            <a:off x="1338590" y="2464728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Star: 5 Points 50">
            <a:extLst>
              <a:ext uri="{FF2B5EF4-FFF2-40B4-BE49-F238E27FC236}">
                <a16:creationId xmlns:a16="http://schemas.microsoft.com/office/drawing/2014/main" id="{31C57F67-2E5F-4C42-862D-4ACAAE602822}"/>
              </a:ext>
            </a:extLst>
          </p:cNvPr>
          <p:cNvSpPr/>
          <p:nvPr/>
        </p:nvSpPr>
        <p:spPr>
          <a:xfrm>
            <a:off x="1629602" y="2464728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ERVIEW          EPISODES          TRAILERS &amp; MORE          MORE LIKE THIS          DETAILS">
            <a:extLst>
              <a:ext uri="{FF2B5EF4-FFF2-40B4-BE49-F238E27FC236}">
                <a16:creationId xmlns:a16="http://schemas.microsoft.com/office/drawing/2014/main" id="{770E3A07-2B62-4B1E-82BF-5511778D16B7}"/>
              </a:ext>
            </a:extLst>
          </p:cNvPr>
          <p:cNvSpPr txBox="1"/>
          <p:nvPr/>
        </p:nvSpPr>
        <p:spPr>
          <a:xfrm>
            <a:off x="1041331" y="6311929"/>
            <a:ext cx="10276630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/>
          <a:p>
            <a:r>
              <a:rPr b="1" dirty="0">
                <a:solidFill>
                  <a:schemeClr val="bg1"/>
                </a:solidFill>
                <a:latin typeface="Helvetica Neue Medium (Body)"/>
              </a:rPr>
              <a:t>OVERVIEW</a:t>
            </a:r>
            <a:r>
              <a:rPr lang="en-US" b="1" dirty="0">
                <a:solidFill>
                  <a:schemeClr val="bg1"/>
                </a:solidFill>
                <a:latin typeface="Helvetica Neue Medium (Body)"/>
              </a:rPr>
              <a:t>	</a:t>
            </a:r>
            <a:r>
              <a:rPr lang="en-US" b="1" u="sng" dirty="0">
                <a:solidFill>
                  <a:schemeClr val="bg1"/>
                </a:solidFill>
                <a:latin typeface="Helvetica Neue Medium (Body)"/>
              </a:rPr>
              <a:t>EPISODES</a:t>
            </a:r>
            <a:r>
              <a:rPr lang="en-US" b="1" dirty="0">
                <a:solidFill>
                  <a:schemeClr val="bg1"/>
                </a:solidFill>
                <a:latin typeface="Helvetica Neue Medium (Body)"/>
              </a:rPr>
              <a:t>	</a:t>
            </a:r>
            <a:r>
              <a:rPr lang="en-US" b="1" u="sng" dirty="0">
                <a:solidFill>
                  <a:schemeClr val="bg1"/>
                </a:solidFill>
                <a:latin typeface="Helvetica Neue Medium (Body)"/>
              </a:rPr>
              <a:t>TRAILERS &amp; MORE</a:t>
            </a:r>
            <a:r>
              <a:rPr lang="en-US" b="1" dirty="0">
                <a:solidFill>
                  <a:schemeClr val="bg1"/>
                </a:solidFill>
                <a:latin typeface="Helvetica Neue Medium (Body)"/>
              </a:rPr>
              <a:t>	</a:t>
            </a:r>
            <a:r>
              <a:rPr lang="en-US" b="1" u="sng" dirty="0">
                <a:solidFill>
                  <a:schemeClr val="bg1"/>
                </a:solidFill>
                <a:latin typeface="Helvetica Neue Medium (Body)"/>
              </a:rPr>
              <a:t>MORE LIKE THIS</a:t>
            </a:r>
            <a:r>
              <a:rPr lang="en-US" b="1" dirty="0">
                <a:solidFill>
                  <a:schemeClr val="bg1"/>
                </a:solidFill>
                <a:latin typeface="Helvetica Neue Medium (Body)"/>
              </a:rPr>
              <a:t>	</a:t>
            </a:r>
            <a:r>
              <a:rPr lang="en-US" b="1" u="sng" dirty="0">
                <a:solidFill>
                  <a:schemeClr val="bg1"/>
                </a:solidFill>
                <a:latin typeface="Helvetica Neue Medium (Body)"/>
              </a:rPr>
              <a:t>DETAILS</a:t>
            </a:r>
            <a:endParaRPr b="1" u="sng" dirty="0">
              <a:solidFill>
                <a:schemeClr val="bg1"/>
              </a:solidFill>
              <a:latin typeface="Helvetica Neue Medium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701905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4" grpId="0"/>
      <p:bldP spid="23" grpId="0" animBg="1"/>
      <p:bldP spid="24" grpId="0" animBg="1"/>
      <p:bldP spid="48" grpId="0"/>
      <p:bldP spid="54" grpId="0"/>
      <p:bldP spid="55" grpId="0" animBg="1"/>
      <p:bldP spid="43" grpId="0" animBg="1"/>
      <p:bldP spid="44" grpId="0" animBg="1"/>
      <p:bldP spid="46" grpId="0" animBg="1"/>
      <p:bldP spid="49" grpId="0" animBg="1"/>
      <p:bldP spid="5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B6D944-99BF-4BE8-8516-FB9F9CC52627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273D3-9D3D-4DF3-9FDF-397CEDEC4301}"/>
              </a:ext>
            </a:extLst>
          </p:cNvPr>
          <p:cNvSpPr/>
          <p:nvPr/>
        </p:nvSpPr>
        <p:spPr>
          <a:xfrm>
            <a:off x="457200" y="790779"/>
            <a:ext cx="4152900" cy="505310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29F3E881-F4D9-4D9C-874C-718871059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DC190AFD-D9F7-45D4-9D6B-15315749AB41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5F3D56D1-A922-4C0E-9A64-ACE13F2799C6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7C06C5-0E79-44BB-94B4-FC00B3B431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E583BA8F-ADAA-4950-BFA1-26E62CD85C47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422DA82E-8EDD-4E65-BC8F-9E8F6EC6823E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E4770E8A-EA3C-4453-8577-2C9E2F930BA6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DFCF64-3EB3-446E-9ADC-7E5E0ED819FE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447C86D-A4D6-4A08-8816-29EDAE494179}"/>
              </a:ext>
            </a:extLst>
          </p:cNvPr>
          <p:cNvSpPr txBox="1"/>
          <p:nvPr/>
        </p:nvSpPr>
        <p:spPr>
          <a:xfrm>
            <a:off x="4883684" y="1020938"/>
            <a:ext cx="360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NETFLIX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ORIGINAL</a:t>
            </a:r>
            <a:r>
              <a:rPr lang="en-US" sz="2000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2D04F5C-865E-41A6-8DD3-3F9FC0E4AAF5}"/>
              </a:ext>
            </a:extLst>
          </p:cNvPr>
          <p:cNvSpPr txBox="1"/>
          <p:nvPr/>
        </p:nvSpPr>
        <p:spPr>
          <a:xfrm>
            <a:off x="4883684" y="1282548"/>
            <a:ext cx="4527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THE COMPANY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A99B43-E2B0-48AC-9767-B1A7AA29C1D9}"/>
              </a:ext>
            </a:extLst>
          </p:cNvPr>
          <p:cNvSpPr txBox="1"/>
          <p:nvPr/>
        </p:nvSpPr>
        <p:spPr>
          <a:xfrm>
            <a:off x="4959886" y="2375155"/>
            <a:ext cx="6493530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company where I worked at is called 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Blumedikal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s.r.l.s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which is a private clinic located in </a:t>
            </a:r>
            <a:r>
              <a:rPr lang="en-US" sz="1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Scorcelletti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(AN).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 are different specialists as a Dentist, a Psychologist, a Dietician and others.</a:t>
            </a: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was welcomed by the Owner and the secretary, who were very kind and helpful.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period I worked there they explained everything very well and in detail.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used to work as a front office employee where I learned how to write an e-mail properly and how to relate with patients and doctors at the same time.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At the end of my working day, I used to help with the cleaning.</a:t>
            </a: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30161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4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4" grpId="0"/>
      <p:bldP spid="45" grpId="0"/>
      <p:bldP spid="4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EBFD68-814C-4DCC-C9BF-85AA763FA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9874A70-12B5-8C5F-2784-5E7538E42D6F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1D1A5F6-9721-8B34-42FD-101B8A3A507A}"/>
              </a:ext>
            </a:extLst>
          </p:cNvPr>
          <p:cNvSpPr/>
          <p:nvPr/>
        </p:nvSpPr>
        <p:spPr>
          <a:xfrm>
            <a:off x="457200" y="790779"/>
            <a:ext cx="4152900" cy="505310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CE6FED63-F9C9-5E5E-B195-722F86710E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B7A5142F-31A7-F4BE-B74B-23AEBF2C991D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696D2644-34FA-0681-BAD2-7CF91F6B57C6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B633B49-CB7D-196E-C9BC-020030B3EE4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ED5E1FBC-E1CA-B2E7-1312-0029CD7B0153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DCAEAE54-707E-5FF3-161B-078CACE29CB6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3E4DAA57-C0B5-C0AC-1E72-6C340E726BF3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54FB373-D9B1-44DE-9C38-62092160FBA1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575A763-628E-3F64-B13C-A4A1ED9123D1}"/>
              </a:ext>
            </a:extLst>
          </p:cNvPr>
          <p:cNvSpPr txBox="1"/>
          <p:nvPr/>
        </p:nvSpPr>
        <p:spPr>
          <a:xfrm>
            <a:off x="4883684" y="1020938"/>
            <a:ext cx="360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NETFLIX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ORIGINAL</a:t>
            </a:r>
            <a:r>
              <a:rPr lang="en-US" sz="2000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E4EED166-8467-761A-B7AA-273B48F6D9BC}"/>
              </a:ext>
            </a:extLst>
          </p:cNvPr>
          <p:cNvSpPr txBox="1"/>
          <p:nvPr/>
        </p:nvSpPr>
        <p:spPr>
          <a:xfrm>
            <a:off x="4883684" y="1282548"/>
            <a:ext cx="4527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MY ABILITIES 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391E40D5-FE53-AE30-766F-E08CB0BF4CDE}"/>
              </a:ext>
            </a:extLst>
          </p:cNvPr>
          <p:cNvSpPr txBox="1"/>
          <p:nvPr/>
        </p:nvSpPr>
        <p:spPr>
          <a:xfrm>
            <a:off x="4959886" y="2375155"/>
            <a:ext cx="6493530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abilities that I have developed during this period of time are 2 types:</a:t>
            </a: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Soft skills (the abilities earned during my life time)</a:t>
            </a: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-Empathy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 – understanding other people's feelings</a:t>
            </a: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-Problem Solving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– identifying issues and finding solutions</a:t>
            </a:r>
            <a:endParaRPr lang="en-US" sz="17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-Conflict Resolution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– managing and resolving disagreements</a:t>
            </a:r>
            <a:endParaRPr lang="en-US" sz="17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Hard Skills (the abilities earned in work and school experiences)</a:t>
            </a: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-Programming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– writing in C+ - C# - Java – HTML - Python</a:t>
            </a:r>
            <a:endParaRPr lang="en-US" sz="17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-Budgeting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– managing and allocating financial resources</a:t>
            </a:r>
            <a:endParaRPr lang="en-US" sz="17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sz="1700" b="1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-Foreign Languages </a:t>
            </a:r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– speaking and writing fluently In English</a:t>
            </a:r>
            <a:endParaRPr lang="en-US" sz="1700" b="1" dirty="0">
              <a:solidFill>
                <a:schemeClr val="bg1"/>
              </a:solidFill>
              <a:latin typeface="Arial" panose="020B0604020202020204" pitchFamily="34" charset="0"/>
              <a:ea typeface="Open Sans" panose="020B0606030504020204" pitchFamily="34" charset="0"/>
              <a:cs typeface="Arial" panose="020B0604020202020204" pitchFamily="34" charset="0"/>
            </a:endParaRP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20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4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1000"/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4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4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4" grpId="0"/>
      <p:bldP spid="45" grpId="0"/>
      <p:bldP spid="46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68770-C6BC-9A95-AB7C-1CCE58F4D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115D6498-2221-8675-543E-45EB5DC31225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18DE348-3EEE-3843-9797-95D0FFE7786E}"/>
              </a:ext>
            </a:extLst>
          </p:cNvPr>
          <p:cNvSpPr/>
          <p:nvPr/>
        </p:nvSpPr>
        <p:spPr>
          <a:xfrm>
            <a:off x="457200" y="790779"/>
            <a:ext cx="4152900" cy="505310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73D75027-8BC5-7FD6-4A00-840A493B0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B6EA7BE6-48CF-D2A5-A932-5A9EA987D382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8E2499FA-1C07-13FD-F5CB-596AF09DD463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176E6DCF-F416-D567-5998-BA46F100697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099D29CB-5D39-F2AE-B21B-1D52D12D774D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841ED11F-D31F-46CC-9DCE-28D43EFA4F99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83D8C374-8D3D-F38D-0EC3-178FDDCBB706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77EF759-DA2B-A636-7974-1E46333CE316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DF3D877-3688-5A89-45FC-F320D75B00DF}"/>
              </a:ext>
            </a:extLst>
          </p:cNvPr>
          <p:cNvSpPr txBox="1"/>
          <p:nvPr/>
        </p:nvSpPr>
        <p:spPr>
          <a:xfrm>
            <a:off x="4883684" y="1020938"/>
            <a:ext cx="360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NETFLIX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ORIGINAL</a:t>
            </a:r>
            <a:r>
              <a:rPr lang="en-US" sz="2000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395CBCE-DEAE-1315-8CED-E3801B6E41B4}"/>
              </a:ext>
            </a:extLst>
          </p:cNvPr>
          <p:cNvSpPr txBox="1"/>
          <p:nvPr/>
        </p:nvSpPr>
        <p:spPr>
          <a:xfrm>
            <a:off x="4883684" y="1282548"/>
            <a:ext cx="4527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RELATIONSHIP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434F7AA-98D2-3A96-B2F4-155A84EF20F4}"/>
              </a:ext>
            </a:extLst>
          </p:cNvPr>
          <p:cNvSpPr txBox="1"/>
          <p:nvPr/>
        </p:nvSpPr>
        <p:spPr>
          <a:xfrm>
            <a:off x="4959886" y="2375155"/>
            <a:ext cx="649353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relationship I had with my tutor was fantastic, she was very kind and helpful.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From the very beginning she tried to make me feel at ease by showing me the different steps to carry out for each task.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She was always ready to help me when I was in difficulty or to praise me when I succeeded.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We also spoke about every day life, I learned that I had met her son, who is about my age, at a party some months earlier.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We talked about teenager problems and the difficult relationships in a family.</a:t>
            </a:r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316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4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4" grpId="0"/>
      <p:bldP spid="45" grpId="0"/>
      <p:bldP spid="4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CCB6D944-99BF-4BE8-8516-FB9F9CC52627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81273D3-9D3D-4DF3-9FDF-397CEDEC4301}"/>
              </a:ext>
            </a:extLst>
          </p:cNvPr>
          <p:cNvSpPr/>
          <p:nvPr/>
        </p:nvSpPr>
        <p:spPr>
          <a:xfrm>
            <a:off x="7502239" y="818543"/>
            <a:ext cx="4152900" cy="2544035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29F3E881-F4D9-4D9C-874C-718871059A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DC190AFD-D9F7-45D4-9D6B-15315749AB41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5F3D56D1-A922-4C0E-9A64-ACE13F2799C6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EC7C06C5-0E79-44BB-94B4-FC00B3B431F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E583BA8F-ADAA-4950-BFA1-26E62CD85C47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422DA82E-8EDD-4E65-BC8F-9E8F6EC6823E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E4770E8A-EA3C-4453-8577-2C9E2F930BA6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ADFCF64-3EB3-446E-9ADC-7E5E0ED819FE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7EA99B43-E2B0-48AC-9767-B1A7AA29C1D9}"/>
              </a:ext>
            </a:extLst>
          </p:cNvPr>
          <p:cNvSpPr txBox="1"/>
          <p:nvPr/>
        </p:nvSpPr>
        <p:spPr>
          <a:xfrm>
            <a:off x="554831" y="1685360"/>
            <a:ext cx="649353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main task was working at the reception where I had to keep contacts with the patients, give them information / appointments  and follow the economical aspects.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also used my informatics skills by checking and sending e-mails, using the billing program and the appointment program.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F2CCE3E-EAD6-44A9-A913-82EA44FBE255}"/>
              </a:ext>
            </a:extLst>
          </p:cNvPr>
          <p:cNvSpPr/>
          <p:nvPr/>
        </p:nvSpPr>
        <p:spPr>
          <a:xfrm>
            <a:off x="7502239" y="3428999"/>
            <a:ext cx="4134929" cy="242704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C11067E-23E5-4FC0-8590-2467B301E4CA}"/>
              </a:ext>
            </a:extLst>
          </p:cNvPr>
          <p:cNvSpPr txBox="1"/>
          <p:nvPr/>
        </p:nvSpPr>
        <p:spPr>
          <a:xfrm>
            <a:off x="549561" y="1016762"/>
            <a:ext cx="58874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ACTIVITIES AND TASKS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4C10D02-E891-4B62-8BBD-1EE58691FDE0}"/>
              </a:ext>
            </a:extLst>
          </p:cNvPr>
          <p:cNvSpPr txBox="1"/>
          <p:nvPr/>
        </p:nvSpPr>
        <p:spPr>
          <a:xfrm>
            <a:off x="549561" y="3517649"/>
            <a:ext cx="452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COMPLETING TASKS</a:t>
            </a:r>
          </a:p>
        </p:txBody>
      </p:sp>
      <p:sp>
        <p:nvSpPr>
          <p:cNvPr id="5" name="TextBox 45">
            <a:extLst>
              <a:ext uri="{FF2B5EF4-FFF2-40B4-BE49-F238E27FC236}">
                <a16:creationId xmlns:a16="http://schemas.microsoft.com/office/drawing/2014/main" id="{87691DC4-4BA5-1998-A8DB-90662489D2B9}"/>
              </a:ext>
            </a:extLst>
          </p:cNvPr>
          <p:cNvSpPr txBox="1"/>
          <p:nvPr/>
        </p:nvSpPr>
        <p:spPr>
          <a:xfrm>
            <a:off x="554831" y="4150509"/>
            <a:ext cx="649353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Completing tasks was what helped me develop confidence and problem-solving skills.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also learned how to take initiative and handle them responsibly.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When I had a difficult task to solve, I sometimes called my supervisor and other times I searched the solution on the net.</a:t>
            </a:r>
          </a:p>
        </p:txBody>
      </p:sp>
    </p:spTree>
    <p:extLst>
      <p:ext uri="{BB962C8B-B14F-4D97-AF65-F5344CB8AC3E}">
        <p14:creationId xmlns:p14="http://schemas.microsoft.com/office/powerpoint/2010/main" val="9859277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6" grpId="0"/>
      <p:bldP spid="18" grpId="0" animBg="1"/>
      <p:bldP spid="30" grpId="0"/>
      <p:bldP spid="33" grpId="0"/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2FBFFD-7528-1C35-619D-EE936BDB37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60E55623-CA88-887F-E5A8-2D66C5EEE7C5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E9D05A-5BB6-C9C9-E39A-3BF63A61986B}"/>
              </a:ext>
            </a:extLst>
          </p:cNvPr>
          <p:cNvSpPr/>
          <p:nvPr/>
        </p:nvSpPr>
        <p:spPr>
          <a:xfrm>
            <a:off x="7502239" y="818543"/>
            <a:ext cx="4152900" cy="2544035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D7D70EC8-435B-3DA1-28D7-767BBB80F8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19D05C02-EA5B-E960-71C6-F8BD3CCCC0C8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0D6E88E9-9ECD-37C1-23C6-6BE8F69F5C86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9DBA8D10-FAEE-224C-885D-C5962185CBFD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5BC0E0E9-FCD0-16DA-9C82-BACC7D35604D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B4758C2A-24E6-C593-F944-1031B9CD410D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A5742B1D-2F09-3291-B5BA-2746FF4AFC64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A894FA3-6741-C8A2-3E94-C787F5ED08E7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7069B06-3B8D-87DD-3024-5A3CE973A411}"/>
              </a:ext>
            </a:extLst>
          </p:cNvPr>
          <p:cNvSpPr txBox="1"/>
          <p:nvPr/>
        </p:nvSpPr>
        <p:spPr>
          <a:xfrm>
            <a:off x="554831" y="1685360"/>
            <a:ext cx="6493530" cy="14003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this period of time, I understood that, if I have a choice, working alone is easier and more rewarding.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 the other hand, it’s necessary for some types of work to have a team or to be part of one.</a:t>
            </a: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C9F90C-69CD-6BC5-1AB9-4D5450E8E3FE}"/>
              </a:ext>
            </a:extLst>
          </p:cNvPr>
          <p:cNvSpPr/>
          <p:nvPr/>
        </p:nvSpPr>
        <p:spPr>
          <a:xfrm>
            <a:off x="7502239" y="3428999"/>
            <a:ext cx="4134929" cy="242704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B648FE-569B-E4EB-63BD-EB005D27822D}"/>
              </a:ext>
            </a:extLst>
          </p:cNvPr>
          <p:cNvSpPr txBox="1"/>
          <p:nvPr/>
        </p:nvSpPr>
        <p:spPr>
          <a:xfrm>
            <a:off x="554832" y="4186038"/>
            <a:ext cx="6493529" cy="16619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experience confirmed my interest in business and motivated me to continue studying in this field, giving me valuable insight into possible future career paths. 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Although I initially found it challenging to understand the procedures, I overcame this difficulty by asking questions and carefully observing the staff.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FE96B62-D323-A211-1D7E-CD54108353EF}"/>
              </a:ext>
            </a:extLst>
          </p:cNvPr>
          <p:cNvSpPr txBox="1"/>
          <p:nvPr/>
        </p:nvSpPr>
        <p:spPr>
          <a:xfrm>
            <a:off x="549561" y="1016762"/>
            <a:ext cx="452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ME, MY SELF AND I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B3CD0C7-87ED-E4D0-C8B4-F00C61D3C65E}"/>
              </a:ext>
            </a:extLst>
          </p:cNvPr>
          <p:cNvSpPr txBox="1"/>
          <p:nvPr/>
        </p:nvSpPr>
        <p:spPr>
          <a:xfrm>
            <a:off x="549561" y="3517649"/>
            <a:ext cx="452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MY FUTURE</a:t>
            </a:r>
          </a:p>
        </p:txBody>
      </p:sp>
    </p:spTree>
    <p:extLst>
      <p:ext uri="{BB962C8B-B14F-4D97-AF65-F5344CB8AC3E}">
        <p14:creationId xmlns:p14="http://schemas.microsoft.com/office/powerpoint/2010/main" val="2718142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6" grpId="0"/>
      <p:bldP spid="18" grpId="0" animBg="1"/>
      <p:bldP spid="21" grpId="0"/>
      <p:bldP spid="30" grpId="0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8FD1C4-4CED-D28F-BD9C-773F2516D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3740C216-0C66-354E-2A2A-99972A1AC1C9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ABB0826-F5D5-AE5E-45CD-ADF7D8C543BD}"/>
              </a:ext>
            </a:extLst>
          </p:cNvPr>
          <p:cNvSpPr/>
          <p:nvPr/>
        </p:nvSpPr>
        <p:spPr>
          <a:xfrm>
            <a:off x="7502239" y="818543"/>
            <a:ext cx="4152900" cy="2544035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DD6D539E-C6F0-5104-AFCC-9E53709E63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D45E1AEC-D182-9ACB-D9C4-997639588555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A4F5BF63-198A-BCB0-9EDA-AE7C9E460BC7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F4DA627-8D77-6267-40FA-BC0E84FC186C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D9F00CAC-0E40-DFC7-B3E3-FEEA2131E3D5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D07ADDEA-D9B7-C4AB-D32B-DAF8010A1E60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76CCCBD5-E9F1-8D9D-4D5A-5BD24FB93159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D146084-B472-A19F-0957-C2398D7B23B1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AC77E1D-43B3-7491-D706-15C869AE181B}"/>
              </a:ext>
            </a:extLst>
          </p:cNvPr>
          <p:cNvSpPr txBox="1"/>
          <p:nvPr/>
        </p:nvSpPr>
        <p:spPr>
          <a:xfrm>
            <a:off x="549561" y="1505395"/>
            <a:ext cx="6560595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During my school-work experience the devices and programs used were: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-PC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-PRINTER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-OPEN EMR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-GOOGLE CALENDAR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-INFINITY BY ZUCCHETTI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6C31BAF-B622-4F0D-092B-24865E7C1293}"/>
              </a:ext>
            </a:extLst>
          </p:cNvPr>
          <p:cNvSpPr/>
          <p:nvPr/>
        </p:nvSpPr>
        <p:spPr>
          <a:xfrm>
            <a:off x="7502239" y="3428999"/>
            <a:ext cx="4134929" cy="2427041"/>
          </a:xfrm>
          <a:prstGeom prst="rect">
            <a:avLst/>
          </a:prstGeom>
          <a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56E2B0-B47D-DD04-1CF6-3BD36EB13521}"/>
              </a:ext>
            </a:extLst>
          </p:cNvPr>
          <p:cNvSpPr txBox="1"/>
          <p:nvPr/>
        </p:nvSpPr>
        <p:spPr>
          <a:xfrm>
            <a:off x="549563" y="3988329"/>
            <a:ext cx="6560593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school tutor told us to look for a company related to our studies where to have the school-work experience.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He told us to make sure that the supervisor at work signed our daily schedule and registered if we were absent or late.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The school tutor had to make unannounced inspections; in my case he came only once.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ea typeface="Open Sans" panose="020B0606030504020204" pitchFamily="34" charset="0"/>
                <a:cs typeface="Arial" panose="020B0604020202020204" pitchFamily="34" charset="0"/>
              </a:rPr>
              <a:t>At the end of this experience, he came to collect my report.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6F4047B-0630-B68E-C24B-6542663EB1C0}"/>
              </a:ext>
            </a:extLst>
          </p:cNvPr>
          <p:cNvSpPr txBox="1"/>
          <p:nvPr/>
        </p:nvSpPr>
        <p:spPr>
          <a:xfrm>
            <a:off x="549561" y="904644"/>
            <a:ext cx="452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TOOLS / DEVICES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F17AA34-A585-317D-77E9-E5EF38D154EF}"/>
              </a:ext>
            </a:extLst>
          </p:cNvPr>
          <p:cNvSpPr txBox="1"/>
          <p:nvPr/>
        </p:nvSpPr>
        <p:spPr>
          <a:xfrm>
            <a:off x="549561" y="3456651"/>
            <a:ext cx="45270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THE EXTERNAL TUTOR</a:t>
            </a:r>
          </a:p>
        </p:txBody>
      </p:sp>
    </p:spTree>
    <p:extLst>
      <p:ext uri="{BB962C8B-B14F-4D97-AF65-F5344CB8AC3E}">
        <p14:creationId xmlns:p14="http://schemas.microsoft.com/office/powerpoint/2010/main" val="1123531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6" grpId="0"/>
      <p:bldP spid="18" grpId="0" animBg="1"/>
      <p:bldP spid="21" grpId="0"/>
      <p:bldP spid="30" grpId="0"/>
      <p:bldP spid="3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A69EE0C-B4F4-43DF-5724-7458D2A3F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AC0583F6-2B42-51AE-2221-CB307C37C1F6}"/>
              </a:ext>
            </a:extLst>
          </p:cNvPr>
          <p:cNvSpPr/>
          <p:nvPr/>
        </p:nvSpPr>
        <p:spPr>
          <a:xfrm>
            <a:off x="437722" y="761097"/>
            <a:ext cx="11217417" cy="5075965"/>
          </a:xfrm>
          <a:prstGeom prst="rect">
            <a:avLst/>
          </a:prstGeom>
          <a:solidFill>
            <a:schemeClr val="bg2">
              <a:lumMod val="10000"/>
            </a:schemeClr>
          </a:solidFill>
          <a:ln w="3175">
            <a:solidFill>
              <a:schemeClr val="tx1">
                <a:lumMod val="95000"/>
                <a:lumOff val="5000"/>
              </a:schemeClr>
            </a:solidFill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10835E-D12F-0C46-68DD-70347B515739}"/>
              </a:ext>
            </a:extLst>
          </p:cNvPr>
          <p:cNvSpPr/>
          <p:nvPr/>
        </p:nvSpPr>
        <p:spPr>
          <a:xfrm>
            <a:off x="457200" y="790779"/>
            <a:ext cx="4152900" cy="5053106"/>
          </a:xfrm>
          <a:prstGeom prst="rect">
            <a:avLst/>
          </a:prstGeom>
          <a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9" name="Footer" descr="C:\Users\Araneta\Desktop\PowerPoint Presentation Templates\Netflix\FOOTER.png">
            <a:extLst>
              <a:ext uri="{FF2B5EF4-FFF2-40B4-BE49-F238E27FC236}">
                <a16:creationId xmlns:a16="http://schemas.microsoft.com/office/drawing/2014/main" id="{3F6B4C24-5EB7-58E8-CB7C-AA2DBA23ED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6037809"/>
            <a:ext cx="11293975" cy="9189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Seek Length">
            <a:extLst>
              <a:ext uri="{FF2B5EF4-FFF2-40B4-BE49-F238E27FC236}">
                <a16:creationId xmlns:a16="http://schemas.microsoft.com/office/drawing/2014/main" id="{6FE44C42-4383-53DF-C317-98AB0232C86F}"/>
              </a:ext>
            </a:extLst>
          </p:cNvPr>
          <p:cNvSpPr/>
          <p:nvPr/>
        </p:nvSpPr>
        <p:spPr>
          <a:xfrm flipV="1">
            <a:off x="554831" y="6184513"/>
            <a:ext cx="10441782" cy="45719"/>
          </a:xfrm>
          <a:prstGeom prst="roundRect">
            <a:avLst/>
          </a:prstGeom>
          <a:solidFill>
            <a:srgbClr val="B1060F"/>
          </a:solidFill>
          <a:ln w="28575">
            <a:solidFill>
              <a:srgbClr val="B1060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Home     TV Shows     Movies     Recently Added     My List">
            <a:extLst>
              <a:ext uri="{FF2B5EF4-FFF2-40B4-BE49-F238E27FC236}">
                <a16:creationId xmlns:a16="http://schemas.microsoft.com/office/drawing/2014/main" id="{5C92DD7A-4EBC-7342-B964-078CD35BC3E8}"/>
              </a:ext>
            </a:extLst>
          </p:cNvPr>
          <p:cNvSpPr txBox="1"/>
          <p:nvPr/>
        </p:nvSpPr>
        <p:spPr>
          <a:xfrm>
            <a:off x="2099321" y="127515"/>
            <a:ext cx="7613594" cy="421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>
            <a:lvl1pPr algn="l">
              <a:defRPr b="0"/>
            </a:lvl1pPr>
          </a:lstStyle>
          <a:p>
            <a:r>
              <a:rPr dirty="0">
                <a:solidFill>
                  <a:schemeClr val="bg1"/>
                </a:solidFill>
                <a:latin typeface="Helvetica Neue"/>
              </a:rPr>
              <a:t>Home     TV Shows     Movies     Recently Added     My List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913B26F-94DC-3855-0DFD-B1B4DA41D0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  <p:sp>
        <p:nvSpPr>
          <p:cNvPr id="25" name="Search">
            <a:extLst>
              <a:ext uri="{FF2B5EF4-FFF2-40B4-BE49-F238E27FC236}">
                <a16:creationId xmlns:a16="http://schemas.microsoft.com/office/drawing/2014/main" id="{51CD5684-CFFD-30DA-D58D-7FF5BBD1C58C}"/>
              </a:ext>
            </a:extLst>
          </p:cNvPr>
          <p:cNvSpPr/>
          <p:nvPr/>
        </p:nvSpPr>
        <p:spPr>
          <a:xfrm>
            <a:off x="10368855" y="221563"/>
            <a:ext cx="214297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00" h="21502" extrusionOk="0">
                <a:moveTo>
                  <a:pt x="7928" y="4"/>
                </a:moveTo>
                <a:cubicBezTo>
                  <a:pt x="6343" y="54"/>
                  <a:pt x="4758" y="513"/>
                  <a:pt x="3383" y="1414"/>
                </a:cubicBezTo>
                <a:cubicBezTo>
                  <a:pt x="-286" y="3816"/>
                  <a:pt x="-1098" y="8454"/>
                  <a:pt x="1573" y="11753"/>
                </a:cubicBezTo>
                <a:cubicBezTo>
                  <a:pt x="3866" y="14587"/>
                  <a:pt x="8102" y="15587"/>
                  <a:pt x="11645" y="14130"/>
                </a:cubicBezTo>
                <a:lnTo>
                  <a:pt x="11895" y="14028"/>
                </a:lnTo>
                <a:lnTo>
                  <a:pt x="12039" y="14238"/>
                </a:lnTo>
                <a:cubicBezTo>
                  <a:pt x="12051" y="14256"/>
                  <a:pt x="12060" y="14269"/>
                  <a:pt x="12071" y="14282"/>
                </a:cubicBezTo>
                <a:lnTo>
                  <a:pt x="17686" y="21218"/>
                </a:lnTo>
                <a:cubicBezTo>
                  <a:pt x="17806" y="21366"/>
                  <a:pt x="17984" y="21464"/>
                  <a:pt x="18188" y="21493"/>
                </a:cubicBezTo>
                <a:cubicBezTo>
                  <a:pt x="18392" y="21522"/>
                  <a:pt x="18597" y="21479"/>
                  <a:pt x="18762" y="21371"/>
                </a:cubicBezTo>
                <a:lnTo>
                  <a:pt x="20082" y="20505"/>
                </a:lnTo>
                <a:cubicBezTo>
                  <a:pt x="20425" y="20281"/>
                  <a:pt x="20502" y="19847"/>
                  <a:pt x="20252" y="19538"/>
                </a:cubicBezTo>
                <a:lnTo>
                  <a:pt x="14637" y="12602"/>
                </a:lnTo>
                <a:cubicBezTo>
                  <a:pt x="14613" y="12572"/>
                  <a:pt x="14586" y="12546"/>
                  <a:pt x="14559" y="12521"/>
                </a:cubicBezTo>
                <a:lnTo>
                  <a:pt x="14359" y="12340"/>
                </a:lnTo>
                <a:lnTo>
                  <a:pt x="14540" y="12143"/>
                </a:lnTo>
                <a:cubicBezTo>
                  <a:pt x="16964" y="9533"/>
                  <a:pt x="17103" y="5790"/>
                  <a:pt x="14878" y="3042"/>
                </a:cubicBezTo>
                <a:cubicBezTo>
                  <a:pt x="13209" y="980"/>
                  <a:pt x="10569" y="-78"/>
                  <a:pt x="7928" y="4"/>
                </a:cubicBezTo>
                <a:close/>
                <a:moveTo>
                  <a:pt x="7952" y="1548"/>
                </a:moveTo>
                <a:cubicBezTo>
                  <a:pt x="8377" y="1533"/>
                  <a:pt x="8807" y="1556"/>
                  <a:pt x="9237" y="1617"/>
                </a:cubicBezTo>
                <a:cubicBezTo>
                  <a:pt x="10956" y="1861"/>
                  <a:pt x="12466" y="2690"/>
                  <a:pt x="13488" y="3952"/>
                </a:cubicBezTo>
                <a:cubicBezTo>
                  <a:pt x="15601" y="6562"/>
                  <a:pt x="14959" y="10231"/>
                  <a:pt x="12058" y="12131"/>
                </a:cubicBezTo>
                <a:cubicBezTo>
                  <a:pt x="10904" y="12887"/>
                  <a:pt x="9563" y="13250"/>
                  <a:pt x="8234" y="13250"/>
                </a:cubicBezTo>
                <a:cubicBezTo>
                  <a:pt x="6221" y="13250"/>
                  <a:pt x="4235" y="12415"/>
                  <a:pt x="2963" y="10843"/>
                </a:cubicBezTo>
                <a:cubicBezTo>
                  <a:pt x="850" y="8233"/>
                  <a:pt x="1491" y="4565"/>
                  <a:pt x="4393" y="2665"/>
                </a:cubicBezTo>
                <a:cubicBezTo>
                  <a:pt x="5446" y="1976"/>
                  <a:pt x="6677" y="1593"/>
                  <a:pt x="7952" y="1548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6" name="Bell">
            <a:extLst>
              <a:ext uri="{FF2B5EF4-FFF2-40B4-BE49-F238E27FC236}">
                <a16:creationId xmlns:a16="http://schemas.microsoft.com/office/drawing/2014/main" id="{66F238EA-7934-D54C-CE55-21A3E3FB1BA9}"/>
              </a:ext>
            </a:extLst>
          </p:cNvPr>
          <p:cNvSpPr/>
          <p:nvPr/>
        </p:nvSpPr>
        <p:spPr>
          <a:xfrm>
            <a:off x="10802600" y="217204"/>
            <a:ext cx="248646" cy="2697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03" y="0"/>
                </a:moveTo>
                <a:cubicBezTo>
                  <a:pt x="9575" y="0"/>
                  <a:pt x="9470" y="104"/>
                  <a:pt x="9470" y="231"/>
                </a:cubicBezTo>
                <a:lnTo>
                  <a:pt x="9470" y="1411"/>
                </a:lnTo>
                <a:cubicBezTo>
                  <a:pt x="7726" y="1796"/>
                  <a:pt x="4885" y="3013"/>
                  <a:pt x="4885" y="6864"/>
                </a:cubicBezTo>
                <a:cubicBezTo>
                  <a:pt x="4875" y="6874"/>
                  <a:pt x="4657" y="13994"/>
                  <a:pt x="1736" y="16276"/>
                </a:cubicBezTo>
                <a:cubicBezTo>
                  <a:pt x="1736" y="16276"/>
                  <a:pt x="683" y="17224"/>
                  <a:pt x="0" y="17750"/>
                </a:cubicBezTo>
                <a:lnTo>
                  <a:pt x="0" y="19776"/>
                </a:lnTo>
                <a:lnTo>
                  <a:pt x="8958" y="19776"/>
                </a:lnTo>
                <a:cubicBezTo>
                  <a:pt x="8958" y="20783"/>
                  <a:pt x="9783" y="21600"/>
                  <a:pt x="10800" y="21600"/>
                </a:cubicBezTo>
                <a:cubicBezTo>
                  <a:pt x="11817" y="21600"/>
                  <a:pt x="12642" y="20783"/>
                  <a:pt x="12642" y="19776"/>
                </a:cubicBezTo>
                <a:lnTo>
                  <a:pt x="21600" y="19776"/>
                </a:lnTo>
                <a:lnTo>
                  <a:pt x="21600" y="17750"/>
                </a:lnTo>
                <a:cubicBezTo>
                  <a:pt x="20918" y="17224"/>
                  <a:pt x="19864" y="16276"/>
                  <a:pt x="19864" y="16276"/>
                </a:cubicBezTo>
                <a:cubicBezTo>
                  <a:pt x="16943" y="13994"/>
                  <a:pt x="16725" y="6874"/>
                  <a:pt x="16715" y="6864"/>
                </a:cubicBezTo>
                <a:cubicBezTo>
                  <a:pt x="16715" y="3013"/>
                  <a:pt x="13874" y="1796"/>
                  <a:pt x="12130" y="1411"/>
                </a:cubicBezTo>
                <a:lnTo>
                  <a:pt x="12130" y="231"/>
                </a:lnTo>
                <a:cubicBezTo>
                  <a:pt x="12130" y="104"/>
                  <a:pt x="12025" y="0"/>
                  <a:pt x="11897" y="0"/>
                </a:cubicBezTo>
                <a:lnTo>
                  <a:pt x="9703" y="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7" name="Triangle">
            <a:extLst>
              <a:ext uri="{FF2B5EF4-FFF2-40B4-BE49-F238E27FC236}">
                <a16:creationId xmlns:a16="http://schemas.microsoft.com/office/drawing/2014/main" id="{74B3F351-6C29-E84A-6A1D-CD726B42BDB5}"/>
              </a:ext>
            </a:extLst>
          </p:cNvPr>
          <p:cNvSpPr/>
          <p:nvPr/>
        </p:nvSpPr>
        <p:spPr>
          <a:xfrm rot="18767632">
            <a:off x="11903014" y="247205"/>
            <a:ext cx="121607" cy="1306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 b="0">
                <a:solidFill>
                  <a:srgbClr val="000000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86ADB80-45C0-D325-7817-3055EEC4B2FF}"/>
              </a:ext>
            </a:extLst>
          </p:cNvPr>
          <p:cNvSpPr/>
          <p:nvPr/>
        </p:nvSpPr>
        <p:spPr>
          <a:xfrm>
            <a:off x="11270694" y="181062"/>
            <a:ext cx="384445" cy="330617"/>
          </a:xfrm>
          <a:prstGeom prst="rect">
            <a:avLst/>
          </a:prstGeom>
          <a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05FC791E-F100-62B7-5B23-2A4ECF04E101}"/>
              </a:ext>
            </a:extLst>
          </p:cNvPr>
          <p:cNvSpPr txBox="1"/>
          <p:nvPr/>
        </p:nvSpPr>
        <p:spPr>
          <a:xfrm>
            <a:off x="4883684" y="1020938"/>
            <a:ext cx="36055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NETFLIX </a:t>
            </a:r>
            <a:r>
              <a:rPr lang="en-US" sz="2000" dirty="0">
                <a:solidFill>
                  <a:schemeClr val="bg1"/>
                </a:solidFill>
                <a:latin typeface="Century Gothic" panose="020B0502020202020204" pitchFamily="34" charset="0"/>
                <a:cs typeface="Arial" panose="020B0604020202020204" pitchFamily="34" charset="0"/>
              </a:rPr>
              <a:t>ORIGINAL</a:t>
            </a:r>
            <a:r>
              <a:rPr lang="en-US" sz="2000" dirty="0">
                <a:solidFill>
                  <a:schemeClr val="bg1"/>
                </a:solidFill>
                <a:latin typeface="Helvetica Neue Medium (Body)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6C8C37-1905-DF46-009D-FCF697A0AE06}"/>
              </a:ext>
            </a:extLst>
          </p:cNvPr>
          <p:cNvSpPr txBox="1"/>
          <p:nvPr/>
        </p:nvSpPr>
        <p:spPr>
          <a:xfrm>
            <a:off x="4883684" y="1282548"/>
            <a:ext cx="45270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  <a:ea typeface="Segoe UI Black" panose="020B0A02040204020203" pitchFamily="34" charset="0"/>
                <a:cs typeface="Segoe UI Black" panose="020B0A02040204020203" pitchFamily="34" charset="0"/>
              </a:rPr>
              <a:t>suggestions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2A3FB10D-B95A-7EA1-AB4B-4B44D3BB3856}"/>
              </a:ext>
            </a:extLst>
          </p:cNvPr>
          <p:cNvSpPr txBox="1"/>
          <p:nvPr/>
        </p:nvSpPr>
        <p:spPr>
          <a:xfrm>
            <a:off x="4959886" y="2375155"/>
            <a:ext cx="6493530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 advised the owner of the company to add a room where the staff could cook / storage / consume their meals or to add a vending machine.</a:t>
            </a:r>
          </a:p>
          <a:p>
            <a:pPr algn="just"/>
            <a:r>
              <a:rPr lang="en-US" sz="1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owner told me that the adding of other rooms to the structure is already in program within the end of this year.</a:t>
            </a:r>
          </a:p>
          <a:p>
            <a:pPr algn="just"/>
            <a:endParaRPr lang="en-US" sz="17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8958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1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4" grpId="0"/>
      <p:bldP spid="45" grpId="0"/>
      <p:bldP spid="4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3C17FAC-4649-45DF-8F93-97727ACC2E2E}"/>
              </a:ext>
            </a:extLst>
          </p:cNvPr>
          <p:cNvSpPr txBox="1"/>
          <p:nvPr/>
        </p:nvSpPr>
        <p:spPr>
          <a:xfrm>
            <a:off x="6031992" y="1986644"/>
            <a:ext cx="4865416" cy="7315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just"/>
            <a:r>
              <a:rPr lang="en-US" sz="4800" b="1" dirty="0">
                <a:solidFill>
                  <a:schemeClr val="bg1"/>
                </a:solidFill>
                <a:latin typeface="Helvetica" pitchFamily="34" charset="0"/>
                <a:cs typeface="Helvetica" pitchFamily="34" charset="0"/>
              </a:rPr>
              <a:t>THANK YOU</a:t>
            </a:r>
          </a:p>
          <a:p>
            <a:pPr algn="just"/>
            <a:r>
              <a:rPr lang="en-US" sz="4800" b="1" dirty="0">
                <a:solidFill>
                  <a:schemeClr val="bg1"/>
                </a:solidFill>
                <a:latin typeface="Helvetica" pitchFamily="34" charset="0"/>
                <a:cs typeface="Helvetica" pitchFamily="34" charset="0"/>
              </a:rPr>
              <a:t>FOR WATCHING </a:t>
            </a:r>
            <a:endParaRPr lang="en-US" sz="4800" dirty="0">
              <a:solidFill>
                <a:schemeClr val="bg1"/>
              </a:solidFill>
              <a:latin typeface="Helvetica" pitchFamily="34" charset="0"/>
              <a:cs typeface="Helvetica" pitchFamily="34" charset="0"/>
            </a:endParaRPr>
          </a:p>
        </p:txBody>
      </p:sp>
      <p:sp>
        <p:nvSpPr>
          <p:cNvPr id="5" name="Member 1 Picture">
            <a:extLst>
              <a:ext uri="{FF2B5EF4-FFF2-40B4-BE49-F238E27FC236}">
                <a16:creationId xmlns:a16="http://schemas.microsoft.com/office/drawing/2014/main" id="{3A611F14-D77A-47BA-8DBA-32B559B3C5F1}"/>
              </a:ext>
            </a:extLst>
          </p:cNvPr>
          <p:cNvSpPr/>
          <p:nvPr/>
        </p:nvSpPr>
        <p:spPr>
          <a:xfrm>
            <a:off x="1429434" y="3554802"/>
            <a:ext cx="1381120" cy="1409464"/>
          </a:xfrm>
          <a:prstGeom prst="round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2567" t="-8974" r="-33709" b="-595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Member 2 Picture">
            <a:extLst>
              <a:ext uri="{FF2B5EF4-FFF2-40B4-BE49-F238E27FC236}">
                <a16:creationId xmlns:a16="http://schemas.microsoft.com/office/drawing/2014/main" id="{0C06142B-9C2A-4E0A-8210-0EB204542784}"/>
              </a:ext>
            </a:extLst>
          </p:cNvPr>
          <p:cNvSpPr/>
          <p:nvPr/>
        </p:nvSpPr>
        <p:spPr>
          <a:xfrm>
            <a:off x="769128" y="1952896"/>
            <a:ext cx="1381120" cy="1409464"/>
          </a:xfrm>
          <a:prstGeom prst="roundRect">
            <a:avLst/>
          </a:prstGeom>
          <a:blipFill dpi="0"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7356" t="-10913" r="-17356" b="-13165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Member 3 Picture">
            <a:extLst>
              <a:ext uri="{FF2B5EF4-FFF2-40B4-BE49-F238E27FC236}">
                <a16:creationId xmlns:a16="http://schemas.microsoft.com/office/drawing/2014/main" id="{27D3D75E-73BC-40EA-B095-F00DE64D97B5}"/>
              </a:ext>
            </a:extLst>
          </p:cNvPr>
          <p:cNvSpPr/>
          <p:nvPr/>
        </p:nvSpPr>
        <p:spPr>
          <a:xfrm>
            <a:off x="2300607" y="1979684"/>
            <a:ext cx="1381120" cy="1409464"/>
          </a:xfrm>
          <a:prstGeom prst="roundRect">
            <a:avLst/>
          </a:prstGeom>
          <a:blipFill dpi="0"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0040" t="-15026" r="-45282" b="-285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Member 4 Picture">
            <a:extLst>
              <a:ext uri="{FF2B5EF4-FFF2-40B4-BE49-F238E27FC236}">
                <a16:creationId xmlns:a16="http://schemas.microsoft.com/office/drawing/2014/main" id="{CAE3C9D3-B42F-401B-9350-4D62F5F6607E}"/>
              </a:ext>
            </a:extLst>
          </p:cNvPr>
          <p:cNvSpPr/>
          <p:nvPr/>
        </p:nvSpPr>
        <p:spPr>
          <a:xfrm>
            <a:off x="3835938" y="1979684"/>
            <a:ext cx="1381120" cy="1409464"/>
          </a:xfrm>
          <a:prstGeom prst="roundRect">
            <a:avLst/>
          </a:prstGeom>
          <a:blipFill dpi="0"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40682" t="-5952" r="-40682" b="-14881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Member 5 Picture">
            <a:extLst>
              <a:ext uri="{FF2B5EF4-FFF2-40B4-BE49-F238E27FC236}">
                <a16:creationId xmlns:a16="http://schemas.microsoft.com/office/drawing/2014/main" id="{896B10E4-2104-46C0-87E8-EF692F16609E}"/>
              </a:ext>
            </a:extLst>
          </p:cNvPr>
          <p:cNvSpPr/>
          <p:nvPr/>
        </p:nvSpPr>
        <p:spPr>
          <a:xfrm>
            <a:off x="2988657" y="3568402"/>
            <a:ext cx="1381120" cy="1409464"/>
          </a:xfrm>
          <a:prstGeom prst="roundRect">
            <a:avLst/>
          </a:prstGeom>
          <a:blipFill dpi="0"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68706" t="-29596" r="-68706" b="-28522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Manage Profile Bar">
            <a:extLst>
              <a:ext uri="{FF2B5EF4-FFF2-40B4-BE49-F238E27FC236}">
                <a16:creationId xmlns:a16="http://schemas.microsoft.com/office/drawing/2014/main" id="{B58C4372-7499-4D3B-A545-FCE7A7867ED8}"/>
              </a:ext>
            </a:extLst>
          </p:cNvPr>
          <p:cNvSpPr/>
          <p:nvPr/>
        </p:nvSpPr>
        <p:spPr>
          <a:xfrm>
            <a:off x="6754876" y="3484373"/>
            <a:ext cx="2495996" cy="382270"/>
          </a:xfrm>
          <a:prstGeom prst="rect">
            <a:avLst/>
          </a:prstGeom>
          <a:noFill/>
          <a:ln>
            <a:solidFill>
              <a:srgbClr val="E6E6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E6E6E6"/>
                </a:solidFill>
                <a:latin typeface="Helvetica" pitchFamily="34" charset="0"/>
                <a:cs typeface="Helvetica" pitchFamily="34" charset="0"/>
              </a:rPr>
              <a:t>YEAR LEVEL | SECTION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75A02A3-6B04-46C6-8D7C-08E4F9E4C804}"/>
              </a:ext>
            </a:extLst>
          </p:cNvPr>
          <p:cNvSpPr/>
          <p:nvPr/>
        </p:nvSpPr>
        <p:spPr>
          <a:xfrm>
            <a:off x="6096000" y="4937715"/>
            <a:ext cx="1089482" cy="38743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 Neue Medium (Body)"/>
                <a:cs typeface="Arial" panose="020B0604020202020204" pitchFamily="34" charset="0"/>
              </a:rPr>
              <a:t>PLAY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F0E823-F726-4A1B-AC34-787A50B3DECD}"/>
              </a:ext>
            </a:extLst>
          </p:cNvPr>
          <p:cNvSpPr/>
          <p:nvPr/>
        </p:nvSpPr>
        <p:spPr>
          <a:xfrm>
            <a:off x="7363585" y="4933716"/>
            <a:ext cx="1468026" cy="38743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rgbClr val="40404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latin typeface="Helvetica Neue Medium (Body)"/>
                <a:cs typeface="Arial" panose="020B0604020202020204" pitchFamily="34" charset="0"/>
              </a:rPr>
              <a:t>+ MY LIST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68E2CB9-F9CE-45BF-9C13-76CC3DF79020}"/>
              </a:ext>
            </a:extLst>
          </p:cNvPr>
          <p:cNvSpPr txBox="1"/>
          <p:nvPr/>
        </p:nvSpPr>
        <p:spPr>
          <a:xfrm>
            <a:off x="6010656" y="3958898"/>
            <a:ext cx="507212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400" dirty="0">
                <a:solidFill>
                  <a:schemeClr val="bg1"/>
                </a:solidFill>
                <a:latin typeface="Open Sans" panose="020B0606030504020204" pitchFamily="34" charset="0"/>
              </a:rPr>
              <a:t>The final report is a series where Jacopo Beltrani (the main character) tells us about his school work experience.</a:t>
            </a:r>
          </a:p>
          <a:p>
            <a:r>
              <a:rPr lang="en-US" sz="1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will follow his adventure in 7 episodes; each one is focused on a different aspect of is journey.</a:t>
            </a:r>
          </a:p>
        </p:txBody>
      </p:sp>
      <p:sp>
        <p:nvSpPr>
          <p:cNvPr id="20" name="2019">
            <a:extLst>
              <a:ext uri="{FF2B5EF4-FFF2-40B4-BE49-F238E27FC236}">
                <a16:creationId xmlns:a16="http://schemas.microsoft.com/office/drawing/2014/main" id="{30FDA351-6C9F-4F4A-AF1D-4E6A964DEA28}"/>
              </a:ext>
            </a:extLst>
          </p:cNvPr>
          <p:cNvSpPr txBox="1"/>
          <p:nvPr/>
        </p:nvSpPr>
        <p:spPr>
          <a:xfrm>
            <a:off x="6010656" y="3465432"/>
            <a:ext cx="744220" cy="421268"/>
          </a:xfrm>
          <a:prstGeom prst="rect">
            <a:avLst/>
          </a:prstGeom>
          <a:ln w="12700">
            <a:noFill/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71437" tIns="71437" rIns="71437" bIns="71437" anchor="ctr">
            <a:spAutoFit/>
          </a:bodyPr>
          <a:lstStyle/>
          <a:p>
            <a:r>
              <a:rPr dirty="0">
                <a:solidFill>
                  <a:schemeClr val="bg1"/>
                </a:solidFill>
                <a:latin typeface="Helvetica Neue Medium (Body)"/>
              </a:rPr>
              <a:t>20</a:t>
            </a:r>
            <a:r>
              <a:rPr lang="en-US" dirty="0">
                <a:solidFill>
                  <a:schemeClr val="bg1"/>
                </a:solidFill>
                <a:latin typeface="Helvetica Neue Medium (Body)"/>
              </a:rPr>
              <a:t>25</a:t>
            </a:r>
            <a:endParaRPr dirty="0">
              <a:solidFill>
                <a:schemeClr val="bg1"/>
              </a:solidFill>
              <a:latin typeface="Helvetica Neue Medium (Body)"/>
            </a:endParaRPr>
          </a:p>
        </p:txBody>
      </p:sp>
      <p:sp>
        <p:nvSpPr>
          <p:cNvPr id="22" name="Star: 5 Points 21">
            <a:extLst>
              <a:ext uri="{FF2B5EF4-FFF2-40B4-BE49-F238E27FC236}">
                <a16:creationId xmlns:a16="http://schemas.microsoft.com/office/drawing/2014/main" id="{748DB210-BE2D-4005-AEBB-5339E9D8D221}"/>
              </a:ext>
            </a:extLst>
          </p:cNvPr>
          <p:cNvSpPr/>
          <p:nvPr/>
        </p:nvSpPr>
        <p:spPr>
          <a:xfrm>
            <a:off x="6057977" y="3144578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tar: 5 Points 22">
            <a:extLst>
              <a:ext uri="{FF2B5EF4-FFF2-40B4-BE49-F238E27FC236}">
                <a16:creationId xmlns:a16="http://schemas.microsoft.com/office/drawing/2014/main" id="{9BFC0FF6-E978-4207-A11C-D791B1247EA3}"/>
              </a:ext>
            </a:extLst>
          </p:cNvPr>
          <p:cNvSpPr/>
          <p:nvPr/>
        </p:nvSpPr>
        <p:spPr>
          <a:xfrm>
            <a:off x="6343635" y="3138755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Star: 5 Points 23">
            <a:extLst>
              <a:ext uri="{FF2B5EF4-FFF2-40B4-BE49-F238E27FC236}">
                <a16:creationId xmlns:a16="http://schemas.microsoft.com/office/drawing/2014/main" id="{58D23F9A-9FE4-4F7F-8D1D-1038BD084CD5}"/>
              </a:ext>
            </a:extLst>
          </p:cNvPr>
          <p:cNvSpPr/>
          <p:nvPr/>
        </p:nvSpPr>
        <p:spPr>
          <a:xfrm>
            <a:off x="6640095" y="3138755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Star: 5 Points 24">
            <a:extLst>
              <a:ext uri="{FF2B5EF4-FFF2-40B4-BE49-F238E27FC236}">
                <a16:creationId xmlns:a16="http://schemas.microsoft.com/office/drawing/2014/main" id="{8ECABA57-69A8-447B-8201-667C6048CAB9}"/>
              </a:ext>
            </a:extLst>
          </p:cNvPr>
          <p:cNvSpPr/>
          <p:nvPr/>
        </p:nvSpPr>
        <p:spPr>
          <a:xfrm>
            <a:off x="6936555" y="3138755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Star: 5 Points 25">
            <a:extLst>
              <a:ext uri="{FF2B5EF4-FFF2-40B4-BE49-F238E27FC236}">
                <a16:creationId xmlns:a16="http://schemas.microsoft.com/office/drawing/2014/main" id="{F8E868AE-4478-48A6-B11D-8F92C66FAEA3}"/>
              </a:ext>
            </a:extLst>
          </p:cNvPr>
          <p:cNvSpPr/>
          <p:nvPr/>
        </p:nvSpPr>
        <p:spPr>
          <a:xfrm>
            <a:off x="7227567" y="3138755"/>
            <a:ext cx="231246" cy="223605"/>
          </a:xfrm>
          <a:prstGeom prst="star5">
            <a:avLst>
              <a:gd name="adj" fmla="val 27205"/>
              <a:gd name="hf" fmla="val 105146"/>
              <a:gd name="vf" fmla="val 110557"/>
            </a:avLst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CECB2220-CD0F-4CAD-9EF3-80E0D8C383D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41" t="28437" r="6779" b="24558"/>
          <a:stretch/>
        </p:blipFill>
        <p:spPr>
          <a:xfrm>
            <a:off x="232576" y="105674"/>
            <a:ext cx="1617510" cy="49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7076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  <p:bldP spid="7" grpId="0" animBg="1"/>
      <p:bldP spid="9" grpId="0" animBg="1"/>
      <p:bldP spid="11" grpId="0" animBg="1"/>
      <p:bldP spid="13" grpId="0" animBg="1"/>
      <p:bldP spid="17" grpId="0" animBg="1"/>
      <p:bldP spid="15" grpId="0" animBg="1"/>
      <p:bldP spid="18" grpId="0" animBg="1"/>
      <p:bldP spid="19" grpId="0"/>
      <p:bldP spid="20" grpId="0"/>
      <p:bldP spid="22" grpId="0" animBg="1"/>
      <p:bldP spid="23" grpId="0" animBg="1"/>
      <p:bldP spid="24" grpId="0" animBg="1"/>
      <p:bldP spid="25" grpId="0" animBg="1"/>
      <p:bldP spid="2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tx1">
                <a:lumMod val="95000"/>
                <a:lumOff val="5000"/>
              </a:schemeClr>
            </a:gs>
            <a:gs pos="83000">
              <a:schemeClr val="bg1">
                <a:alpha val="0"/>
              </a:schemeClr>
            </a:gs>
          </a:gsLst>
          <a:lin ang="0" scaled="1"/>
        </a:gra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2328</TotalTime>
  <Words>902</Words>
  <Application>Microsoft Office PowerPoint</Application>
  <PresentationFormat>Widescreen</PresentationFormat>
  <Paragraphs>90</Paragraphs>
  <Slides>10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20" baseType="lpstr">
      <vt:lpstr>Arial</vt:lpstr>
      <vt:lpstr>Calibri</vt:lpstr>
      <vt:lpstr>Calibri Light</vt:lpstr>
      <vt:lpstr>Century Gothic</vt:lpstr>
      <vt:lpstr>Helvetica</vt:lpstr>
      <vt:lpstr>Helvetica Neue</vt:lpstr>
      <vt:lpstr>Helvetica Neue Medium (Body)</vt:lpstr>
      <vt:lpstr>Impact</vt:lpstr>
      <vt:lpstr>Open Sans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Denice Celis</dc:creator>
  <cp:lastModifiedBy>Jacopo Beltrani</cp:lastModifiedBy>
  <cp:revision>103</cp:revision>
  <dcterms:created xsi:type="dcterms:W3CDTF">2021-04-28T10:44:19Z</dcterms:created>
  <dcterms:modified xsi:type="dcterms:W3CDTF">2025-11-01T20:22:00Z</dcterms:modified>
</cp:coreProperties>
</file>